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2" r:id="rId5"/>
    <p:sldId id="261" r:id="rId6"/>
    <p:sldId id="264" r:id="rId7"/>
    <p:sldId id="265" r:id="rId8"/>
    <p:sldId id="269" r:id="rId9"/>
    <p:sldId id="270" r:id="rId10"/>
    <p:sldId id="276" r:id="rId11"/>
    <p:sldId id="273" r:id="rId12"/>
    <p:sldId id="275" r:id="rId13"/>
    <p:sldId id="277" r:id="rId14"/>
    <p:sldId id="271" r:id="rId15"/>
    <p:sldId id="279" r:id="rId16"/>
    <p:sldId id="278" r:id="rId17"/>
    <p:sldId id="272" r:id="rId18"/>
    <p:sldId id="280" r:id="rId19"/>
    <p:sldId id="260" r:id="rId20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71FF"/>
    <a:srgbClr val="1F285D"/>
    <a:srgbClr val="6464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96F13414-8F03-A442-8ACD-2DC9B0A2CB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735410B-9B5C-1D48-ACA9-2246B305F5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  <a:endParaRPr lang="es-419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21AF1D1-197D-4A4F-9050-E4D3275633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63823"/>
            <a:ext cx="9144000" cy="65500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Agregar subtítulo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585728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EBEF04C5-841F-5A4D-8783-DCC1772280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BD8743C-6899-8944-AB92-EAB5AE3FB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29696" y="2681415"/>
            <a:ext cx="8517753" cy="1112109"/>
          </a:xfr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Modificar título</a:t>
            </a:r>
            <a:endParaRPr lang="es-419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65BCDE19-0EEF-0943-B986-6235A0F9902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29696" y="4008696"/>
            <a:ext cx="8517753" cy="563305"/>
          </a:xfrm>
        </p:spPr>
        <p:txBody>
          <a:bodyPr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Modificar subtítulo</a:t>
            </a:r>
            <a:endParaRPr lang="es-419" dirty="0"/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xmlns="" id="{238A4921-827D-E746-ACF8-162C8F41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0306" y="987146"/>
            <a:ext cx="1665287" cy="1257694"/>
          </a:xfrm>
        </p:spPr>
        <p:txBody>
          <a:bodyPr>
            <a:noAutofit/>
          </a:bodyPr>
          <a:lstStyle>
            <a:lvl1pPr marL="0" indent="0" algn="ctr">
              <a:buNone/>
              <a:defRPr sz="8800" b="1">
                <a:solidFill>
                  <a:srgbClr val="5E71FF"/>
                </a:solidFill>
              </a:defRPr>
            </a:lvl1pPr>
          </a:lstStyle>
          <a:p>
            <a:pPr lvl="0"/>
            <a:r>
              <a:rPr lang="es-MX" dirty="0"/>
              <a:t>01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68439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AC82C9D5-7EBB-B246-ABB9-5DCE94B355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texto 12">
            <a:extLst>
              <a:ext uri="{FF2B5EF4-FFF2-40B4-BE49-F238E27FC236}">
                <a16:creationId xmlns:a16="http://schemas.microsoft.com/office/drawing/2014/main" xmlns="" id="{5AA863C6-E4BB-7246-8E29-38C1A6D523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83969" y="6289632"/>
            <a:ext cx="728662" cy="457629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01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59590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A3A6E091-7C03-A443-A6D2-38D7BDCE83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50ADB42-67F8-B244-80CB-7A4A6F8B8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40411"/>
            <a:ext cx="7737389" cy="67284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1F285D"/>
                </a:solidFill>
              </a:defRPr>
            </a:lvl1pPr>
          </a:lstStyle>
          <a:p>
            <a:r>
              <a:rPr lang="es-ES" dirty="0"/>
              <a:t>Editar título</a:t>
            </a:r>
            <a:endParaRPr lang="es-419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xmlns="" id="{FE0C7826-BD6F-3F44-93EE-AB675BEF60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12825"/>
            <a:ext cx="7737475" cy="4576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646481"/>
                </a:solidFill>
              </a:defRPr>
            </a:lvl1pPr>
          </a:lstStyle>
          <a:p>
            <a:r>
              <a:rPr lang="es-ES" dirty="0"/>
              <a:t>Haga clic para modificar</a:t>
            </a:r>
            <a:endParaRPr lang="es-419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xmlns="" id="{8DAAF717-D746-FE4F-A5F1-E3136E0F16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83969" y="6289632"/>
            <a:ext cx="728662" cy="457629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01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16459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872A9304-47E7-E44B-BC9B-3F5C92870A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01BABDA2-023C-7945-BF86-BEAA5004E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B7FA23C8-2E4E-5046-8259-E2E213978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5C005DD2-86EC-2440-A7E7-B841DBFD7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EA569-A74A-4F40-B8C4-0DF053AB9BE6}" type="datetimeFigureOut">
              <a:rPr lang="es-419" smtClean="0"/>
              <a:t>18/9/2024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FAAEDE95-BF79-354F-9D02-2C24B8EB6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5348DA7-A2C8-4B42-8734-0C9E18D34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55D62-19B0-8644-950B-6F136B21E2CE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2413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E74EF7-2C04-A342-AAD9-E694CF9B7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4989" y="2053966"/>
            <a:ext cx="9144000" cy="2387600"/>
          </a:xfrm>
        </p:spPr>
        <p:txBody>
          <a:bodyPr>
            <a:normAutofit/>
          </a:bodyPr>
          <a:lstStyle/>
          <a:p>
            <a:r>
              <a:rPr lang="es-MX" dirty="0" smtClean="0"/>
              <a:t>EJERCICIO PRÁCTICO TALLER-SNP</a:t>
            </a:r>
            <a:endParaRPr lang="es-419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5FE04B9-C334-374C-9980-1DEA7FC07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51180"/>
            <a:ext cx="9144000" cy="655002"/>
          </a:xfrm>
        </p:spPr>
        <p:txBody>
          <a:bodyPr/>
          <a:lstStyle/>
          <a:p>
            <a:r>
              <a:rPr lang="es-419" dirty="0"/>
              <a:t>DINEM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xmlns="" id="{7501EF41-F281-6D48-9E26-1B14A4817180}"/>
              </a:ext>
            </a:extLst>
          </p:cNvPr>
          <p:cNvSpPr/>
          <p:nvPr/>
        </p:nvSpPr>
        <p:spPr>
          <a:xfrm>
            <a:off x="1523999" y="5106182"/>
            <a:ext cx="3582839" cy="480291"/>
          </a:xfrm>
          <a:prstGeom prst="roundRect">
            <a:avLst/>
          </a:prstGeom>
          <a:solidFill>
            <a:srgbClr val="5E71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dirty="0" smtClean="0"/>
              <a:t>Agosto, 2024</a:t>
            </a:r>
            <a:endParaRPr lang="es-419" sz="2400" dirty="0"/>
          </a:p>
        </p:txBody>
      </p:sp>
    </p:spTree>
    <p:extLst>
      <p:ext uri="{BB962C8B-B14F-4D97-AF65-F5344CB8AC3E}">
        <p14:creationId xmlns:p14="http://schemas.microsoft.com/office/powerpoint/2010/main" val="588417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xmlns="" id="{DAEFAD10-D531-A646-B780-2418143D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Introducción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5D931A0E-0B75-3D41-84A8-B9340AD00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xmlns="" id="{BFA92F3C-CE9E-1E45-9C49-25DA5E06B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smtClean="0"/>
              <a:t>01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97343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14" y="454090"/>
            <a:ext cx="7737389" cy="672843"/>
          </a:xfrm>
        </p:spPr>
        <p:txBody>
          <a:bodyPr/>
          <a:lstStyle/>
          <a:p>
            <a:r>
              <a:rPr lang="es-419" dirty="0"/>
              <a:t>Introducción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9DA794A-A9ED-D74B-9816-ABA56B9403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14" y="1506059"/>
            <a:ext cx="10039795" cy="2109937"/>
          </a:xfrm>
        </p:spPr>
        <p:txBody>
          <a:bodyPr>
            <a:normAutofit/>
          </a:bodyPr>
          <a:lstStyle/>
          <a:p>
            <a:pPr algn="just"/>
            <a:r>
              <a:rPr lang="es-MX" dirty="0" smtClean="0"/>
              <a:t>Para desarrollar un ejemplo práctico que forme parte del conjunto de talleres que se han mantenido, se aborda el caso de estudio propuesto que abarca un calculo de tamaño y selección para instituciones educativas de sexto años de bachillerato del país. </a:t>
            </a:r>
            <a:endParaRPr lang="es-EC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 txBox="1">
            <a:spLocks/>
          </p:cNvSpPr>
          <p:nvPr/>
        </p:nvSpPr>
        <p:spPr>
          <a:xfrm>
            <a:off x="990600" y="3546557"/>
            <a:ext cx="7737389" cy="672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1F285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dirty="0"/>
              <a:t>Objetivo General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xmlns="" id="{A9DA794A-A9ED-D74B-9816-ABA56B940347}"/>
              </a:ext>
            </a:extLst>
          </p:cNvPr>
          <p:cNvSpPr txBox="1">
            <a:spLocks/>
          </p:cNvSpPr>
          <p:nvPr/>
        </p:nvSpPr>
        <p:spPr>
          <a:xfrm>
            <a:off x="990600" y="4546776"/>
            <a:ext cx="9990912" cy="1517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64648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dirty="0"/>
              <a:t>Elaborar un diseño </a:t>
            </a:r>
            <a:r>
              <a:rPr lang="es-ES" dirty="0" err="1"/>
              <a:t>muestral</a:t>
            </a:r>
            <a:r>
              <a:rPr lang="es-ES" dirty="0"/>
              <a:t> </a:t>
            </a:r>
            <a:r>
              <a:rPr lang="es-ES" dirty="0" smtClean="0"/>
              <a:t>probabilístico y definir cada instancia del proceso que permita evidenciar la construcción del diseño </a:t>
            </a:r>
            <a:r>
              <a:rPr lang="es-ES" dirty="0" err="1" smtClean="0"/>
              <a:t>muestral</a:t>
            </a:r>
            <a:r>
              <a:rPr lang="es-ES" dirty="0" smtClean="0"/>
              <a:t>.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8419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xmlns="" id="{DAEFAD10-D531-A646-B780-2418143D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Marco </a:t>
            </a:r>
            <a:r>
              <a:rPr lang="es-EC" dirty="0" err="1"/>
              <a:t>muestral</a:t>
            </a: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5D931A0E-0B75-3D41-84A8-B9340AD00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xmlns="" id="{BFA92F3C-CE9E-1E45-9C49-25DA5E06B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02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04364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64" y="754479"/>
            <a:ext cx="7737389" cy="672843"/>
          </a:xfrm>
        </p:spPr>
        <p:txBody>
          <a:bodyPr/>
          <a:lstStyle/>
          <a:p>
            <a:r>
              <a:rPr lang="es-419" dirty="0"/>
              <a:t>Marco muestral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9DA794A-A9ED-D74B-9816-ABA56B9403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464" y="2004863"/>
            <a:ext cx="9788611" cy="4042255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dirty="0"/>
              <a:t>El marco de muestreo que se considera está </a:t>
            </a:r>
            <a:r>
              <a:rPr lang="es-MX" dirty="0" smtClean="0"/>
              <a:t>definido por el listado de unidades educativas que se nos ha enviado.</a:t>
            </a:r>
            <a:endParaRPr lang="es-EC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dirty="0"/>
              <a:t>Para la construcción del marco </a:t>
            </a:r>
            <a:r>
              <a:rPr lang="es-MX" dirty="0" err="1"/>
              <a:t>muestral</a:t>
            </a:r>
            <a:r>
              <a:rPr lang="es-MX" dirty="0"/>
              <a:t> se </a:t>
            </a:r>
            <a:r>
              <a:rPr lang="es-MX" dirty="0" smtClean="0"/>
              <a:t>consideraron:</a:t>
            </a:r>
          </a:p>
          <a:p>
            <a:pPr marL="1028700" lvl="1" indent="-342900"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rgbClr val="646481"/>
                </a:solidFill>
              </a:rPr>
              <a:t> Cabeceras cantonales de cada provincia</a:t>
            </a:r>
          </a:p>
          <a:p>
            <a:pPr marL="1028700" lvl="1" indent="-342900"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rgbClr val="646481"/>
                </a:solidFill>
              </a:rPr>
              <a:t>Instituciones que registran estudiantes de tercer año de bachillerato</a:t>
            </a:r>
          </a:p>
          <a:p>
            <a:pPr marL="1028700" lvl="1" indent="-342900"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rgbClr val="646481"/>
                </a:solidFill>
              </a:rPr>
              <a:t> Instituciones cuyo tipo de educación sea “ordinario”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dirty="0" smtClean="0"/>
              <a:t>El marco </a:t>
            </a:r>
            <a:r>
              <a:rPr lang="es-MX" dirty="0" err="1" smtClean="0"/>
              <a:t>muestral</a:t>
            </a:r>
            <a:r>
              <a:rPr lang="es-MX" dirty="0" smtClean="0"/>
              <a:t> queda constituido de 1.946 unidades educativas.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3C5C67A1-29D7-1048-826C-D7445004A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s-419" dirty="0"/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2046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xmlns="" id="{DAEFAD10-D531-A646-B780-2418143D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Dominios de estudio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5D931A0E-0B75-3D41-84A8-B9340AD00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xmlns="" id="{BFA92F3C-CE9E-1E45-9C49-25DA5E06B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smtClean="0"/>
              <a:t>04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20596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Dominios de estudio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9DA794A-A9ED-D74B-9816-ABA56B9403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4408" y="2670618"/>
            <a:ext cx="4478365" cy="2373264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 smtClean="0"/>
              <a:t>Los dominios de estudio para el análisis </a:t>
            </a:r>
            <a:r>
              <a:rPr lang="es-ES" dirty="0" err="1" smtClean="0"/>
              <a:t>muestral</a:t>
            </a:r>
            <a:r>
              <a:rPr lang="es-ES" dirty="0" smtClean="0"/>
              <a:t> están definidos por las cabeceras cantonales de cada provincia, siendo 24 dominios de estudio.</a:t>
            </a:r>
            <a:endParaRPr lang="es-ES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184433"/>
              </p:ext>
            </p:extLst>
          </p:nvPr>
        </p:nvGraphicFramePr>
        <p:xfrm>
          <a:off x="6073248" y="1112091"/>
          <a:ext cx="4494362" cy="54903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3968"/>
                <a:gridCol w="1750168"/>
                <a:gridCol w="1380226"/>
              </a:tblGrid>
              <a:tr h="284835">
                <a:tc>
                  <a:txBody>
                    <a:bodyPr/>
                    <a:lstStyle/>
                    <a:p>
                      <a:pPr algn="ctr" fontAlgn="b"/>
                      <a:r>
                        <a:rPr lang="es-EC" sz="1400" b="1" u="none" strike="noStrike" dirty="0" smtClean="0">
                          <a:effectLst/>
                        </a:rPr>
                        <a:t>Dominio</a:t>
                      </a:r>
                      <a:endParaRPr lang="es-EC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400" b="1" u="none" strike="noStrike" dirty="0" err="1">
                          <a:effectLst/>
                        </a:rPr>
                        <a:t>Canton</a:t>
                      </a:r>
                      <a:endParaRPr lang="es-EC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400" b="1" u="none" strike="noStrike" dirty="0">
                          <a:effectLst/>
                        </a:rPr>
                        <a:t>Colegios</a:t>
                      </a:r>
                      <a:endParaRPr lang="es-EC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0101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CUENCA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138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0201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GUARANDA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32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0301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AZOGUES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0401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TULCAN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0501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LATACUNGA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0601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RIOBAMBA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71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0701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MACHALA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ESMERALDAS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0901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GUAYAQUIL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419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1001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IBARRA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1101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LOJA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1201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BABAHOYO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1301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PORTOVIEJO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68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1401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MORONA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1501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TENA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1601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PASTAZA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1701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QUITO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531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AMBATO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84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1901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ZAMORA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2001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SAN CRISTOBAL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2101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LAGO AGRIO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26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2201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ORELLANA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32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284835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2301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SANTO DOMINGO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92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2401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SANTA ELENA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34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  <a:tr h="197031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Total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-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1946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07" marR="6907" marT="6907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840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xmlns="" id="{DAEFAD10-D531-A646-B780-2418143D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dirty="0"/>
              <a:t>Tamaño </a:t>
            </a:r>
            <a:r>
              <a:rPr lang="es-EC" dirty="0" err="1"/>
              <a:t>muestral</a:t>
            </a: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5D931A0E-0B75-3D41-84A8-B9340AD00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xmlns="" id="{BFA92F3C-CE9E-1E45-9C49-25DA5E06B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05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093273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Tamaño </a:t>
            </a:r>
            <a:r>
              <a:rPr lang="es-MX" dirty="0" err="1"/>
              <a:t>muestral</a:t>
            </a:r>
            <a:endParaRPr lang="es-419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xmlns="" id="{A9DA794A-A9ED-D74B-9816-ABA56B94034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796000" y="1168101"/>
                <a:ext cx="10582242" cy="5206820"/>
              </a:xfrm>
            </p:spPr>
            <p:txBody>
              <a:bodyPr>
                <a:normAutofit/>
              </a:bodyPr>
              <a:lstStyle/>
              <a:p>
                <a:pPr algn="just"/>
                <a:endParaRPr lang="es-EC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MX" i="1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s-EC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sSup>
                            <m:sSup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es-ES" dirty="0"/>
              </a:p>
              <a:p>
                <a:pPr algn="just"/>
                <a:endParaRPr lang="es-ES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ES" dirty="0" smtClean="0"/>
                  <a:t>n </a:t>
                </a:r>
                <a:r>
                  <a:rPr lang="es-ES" dirty="0"/>
                  <a:t>:</a:t>
                </a:r>
                <a:r>
                  <a:rPr lang="es-ES" dirty="0" smtClean="0"/>
                  <a:t> </a:t>
                </a:r>
                <a:r>
                  <a:rPr lang="es-ES" dirty="0"/>
                  <a:t>Tamaño de la muestra por dominio.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ES" dirty="0" smtClean="0"/>
                  <a:t>N </a:t>
                </a:r>
                <a:r>
                  <a:rPr lang="es-ES" dirty="0"/>
                  <a:t>:</a:t>
                </a:r>
                <a:r>
                  <a:rPr lang="es-ES" dirty="0" smtClean="0"/>
                  <a:t> Tamaño </a:t>
                </a:r>
                <a:r>
                  <a:rPr lang="es-ES" dirty="0"/>
                  <a:t>del dominio </a:t>
                </a:r>
                <a:r>
                  <a:rPr lang="es-ES" dirty="0" smtClean="0"/>
                  <a:t>.</a:t>
                </a:r>
                <a:endParaRPr lang="es-ES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ES" dirty="0" smtClean="0"/>
                  <a:t>p : Proporción </a:t>
                </a:r>
                <a:r>
                  <a:rPr lang="es-ES" dirty="0"/>
                  <a:t>de individuos que poseen en la población la característica </a:t>
                </a:r>
                <a:r>
                  <a:rPr lang="es-ES" dirty="0" smtClean="0"/>
                  <a:t> de estudio.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ES" dirty="0"/>
                  <a:t>q</a:t>
                </a:r>
                <a:r>
                  <a:rPr lang="es-ES" dirty="0" smtClean="0"/>
                  <a:t> : </a:t>
                </a:r>
                <a:r>
                  <a:rPr lang="es-ES" dirty="0"/>
                  <a:t>proporción de individuos que no poseen esa </a:t>
                </a:r>
                <a:r>
                  <a:rPr lang="es-ES" dirty="0" smtClean="0"/>
                  <a:t>característica.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ES" dirty="0" smtClean="0"/>
                  <a:t>e </a:t>
                </a:r>
                <a:r>
                  <a:rPr lang="es-ES" dirty="0"/>
                  <a:t>:</a:t>
                </a:r>
                <a:r>
                  <a:rPr lang="es-ES" dirty="0" smtClean="0"/>
                  <a:t> </a:t>
                </a:r>
                <a:r>
                  <a:rPr lang="es-ES" dirty="0"/>
                  <a:t>Error relativo máximo admisible.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ES" dirty="0"/>
                  <a:t>z </a:t>
                </a:r>
                <a:r>
                  <a:rPr lang="es-ES" dirty="0" smtClean="0"/>
                  <a:t>: </a:t>
                </a:r>
                <a:r>
                  <a:rPr lang="es-ES" dirty="0"/>
                  <a:t>Coeficiente que representa el nivel de seguridad o confianza.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s-ES" dirty="0"/>
                  <a:t>vi </a:t>
                </a:r>
                <a:r>
                  <a:rPr lang="es-ES" dirty="0" smtClean="0"/>
                  <a:t>: </a:t>
                </a:r>
                <a:r>
                  <a:rPr lang="es-ES" dirty="0"/>
                  <a:t>ventas totales en el dominio i.</a:t>
                </a:r>
              </a:p>
              <a:p>
                <a:pPr algn="just"/>
                <a:endParaRPr lang="es-ES" dirty="0"/>
              </a:p>
            </p:txBody>
          </p:sp>
        </mc:Choice>
        <mc:Fallback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9DA794A-A9ED-D74B-9816-ABA56B940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796000" y="1168101"/>
                <a:ext cx="10582242" cy="5206820"/>
              </a:xfrm>
              <a:blipFill rotWithShape="0">
                <a:blip r:embed="rId2"/>
                <a:stretch>
                  <a:fillRect l="-806" r="-864" b="-937"/>
                </a:stretch>
              </a:blipFill>
            </p:spPr>
            <p:txBody>
              <a:bodyPr/>
              <a:lstStyle/>
              <a:p>
                <a:r>
                  <a:rPr lang="es-EC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3C5C67A1-29D7-1048-826C-D7445004A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73568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Tamaño </a:t>
            </a:r>
            <a:r>
              <a:rPr lang="es-MX" dirty="0" err="1" smtClean="0"/>
              <a:t>muestral</a:t>
            </a:r>
            <a:r>
              <a:rPr lang="es-MX" dirty="0" smtClean="0"/>
              <a:t> - Estudiantes</a:t>
            </a:r>
            <a:endParaRPr lang="es-419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00204"/>
              </p:ext>
            </p:extLst>
          </p:nvPr>
        </p:nvGraphicFramePr>
        <p:xfrm>
          <a:off x="3743864" y="1173189"/>
          <a:ext cx="4011282" cy="5276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7094"/>
                <a:gridCol w="1337094"/>
                <a:gridCol w="1337094"/>
              </a:tblGrid>
              <a:tr h="35318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</a:t>
                      </a:r>
                      <a:endParaRPr lang="es-EC" sz="13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07" marR="7007" marT="7007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est_total</a:t>
                      </a:r>
                      <a:endParaRPr lang="es-EC" sz="13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07" marR="7007" marT="7007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est_muestra</a:t>
                      </a:r>
                      <a:endParaRPr lang="es-EC" sz="13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07" marR="7007" marT="7007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9159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709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1573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517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1390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496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0401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1236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475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0501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3823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640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0601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4974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666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0701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4470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656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0801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3654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635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44519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4027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646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3921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643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2853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606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5149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669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825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399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1453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503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1079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41407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755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5755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678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573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329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1700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530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1379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494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7903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</a:t>
                      </a:r>
                    </a:p>
                  </a:txBody>
                  <a:tcPr marL="7007" marR="7007" marT="7007" marB="0" anchor="b"/>
                </a:tc>
              </a:tr>
              <a:tr h="18836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2692</a:t>
                      </a: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598</a:t>
                      </a:r>
                    </a:p>
                  </a:txBody>
                  <a:tcPr marL="7007" marR="7007" marT="7007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907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Tamaño </a:t>
            </a:r>
            <a:r>
              <a:rPr lang="es-MX" dirty="0" err="1" smtClean="0"/>
              <a:t>muestral</a:t>
            </a:r>
            <a:r>
              <a:rPr lang="es-MX" dirty="0" smtClean="0"/>
              <a:t> - Colegios</a:t>
            </a:r>
            <a:endParaRPr lang="es-419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52809"/>
              </p:ext>
            </p:extLst>
          </p:nvPr>
        </p:nvGraphicFramePr>
        <p:xfrm>
          <a:off x="4356337" y="1254124"/>
          <a:ext cx="2908062" cy="51974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4031"/>
                <a:gridCol w="1454031"/>
              </a:tblGrid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</a:t>
                      </a:r>
                      <a:endParaRPr lang="es-EC" sz="13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52" marR="7252" marT="7252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q_1</a:t>
                      </a:r>
                    </a:p>
                  </a:txBody>
                  <a:tcPr marL="7252" marR="7252" marT="7252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0401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0501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0601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0701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0801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7252" marR="7252" marT="7252" marB="0" anchor="b"/>
                </a:tc>
              </a:tr>
              <a:tr h="2078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7252" marR="7252" marT="7252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394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Tamaño </a:t>
            </a:r>
            <a:r>
              <a:rPr lang="es-MX" dirty="0" err="1" smtClean="0"/>
              <a:t>muestral</a:t>
            </a:r>
            <a:r>
              <a:rPr lang="es-MX" dirty="0" smtClean="0"/>
              <a:t> - Colegios</a:t>
            </a:r>
            <a:endParaRPr lang="es-419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709927"/>
              </p:ext>
            </p:extLst>
          </p:nvPr>
        </p:nvGraphicFramePr>
        <p:xfrm>
          <a:off x="4452408" y="1302816"/>
          <a:ext cx="2947459" cy="5233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7015"/>
                <a:gridCol w="1021017"/>
                <a:gridCol w="1219427"/>
              </a:tblGrid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</a:t>
                      </a:r>
                      <a:endParaRPr lang="es-EC" sz="13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52" marR="7252" marT="7252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col_total</a:t>
                      </a:r>
                      <a:endParaRPr lang="es-EC" sz="13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52" marR="7252" marT="7252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col_muestra</a:t>
                      </a:r>
                      <a:endParaRPr lang="es-EC" sz="13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52" marR="7252" marT="7252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0401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0501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0601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0701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0801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419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7252" marR="7252" marT="7252" marB="0" anchor="b"/>
                </a:tc>
              </a:tr>
              <a:tr h="2093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2401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marL="7252" marR="7252" marT="7252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EC" sz="13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7252" marR="7252" marT="7252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895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Tamaño </a:t>
            </a:r>
            <a:r>
              <a:rPr lang="es-MX" dirty="0" err="1" smtClean="0"/>
              <a:t>muestral</a:t>
            </a:r>
            <a:r>
              <a:rPr lang="es-MX" dirty="0" smtClean="0"/>
              <a:t> - Resumen</a:t>
            </a:r>
            <a:endParaRPr lang="es-419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636401"/>
              </p:ext>
            </p:extLst>
          </p:nvPr>
        </p:nvGraphicFramePr>
        <p:xfrm>
          <a:off x="3329347" y="1149108"/>
          <a:ext cx="5746920" cy="54054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4598"/>
                <a:gridCol w="1016219"/>
                <a:gridCol w="1311726"/>
                <a:gridCol w="665765"/>
                <a:gridCol w="876509"/>
                <a:gridCol w="1182103"/>
              </a:tblGrid>
              <a:tr h="391699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 dirty="0" err="1">
                          <a:effectLst/>
                        </a:rPr>
                        <a:t>dom</a:t>
                      </a:r>
                      <a:endParaRPr lang="es-EC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 dirty="0" err="1">
                          <a:effectLst/>
                        </a:rPr>
                        <a:t>est_total</a:t>
                      </a:r>
                      <a:endParaRPr lang="es-EC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 dirty="0" err="1">
                          <a:effectLst/>
                        </a:rPr>
                        <a:t>est_muestra</a:t>
                      </a:r>
                      <a:endParaRPr lang="es-EC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 dirty="0">
                          <a:effectLst/>
                        </a:rPr>
                        <a:t>q_1</a:t>
                      </a:r>
                      <a:endParaRPr lang="es-EC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 dirty="0" err="1">
                          <a:effectLst/>
                        </a:rPr>
                        <a:t>col_total</a:t>
                      </a:r>
                      <a:endParaRPr lang="es-EC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 dirty="0" err="1">
                          <a:effectLst/>
                        </a:rPr>
                        <a:t>col_muestra</a:t>
                      </a:r>
                      <a:endParaRPr lang="es-EC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0101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9159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709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138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36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0201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1573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517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32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52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0301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1390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496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22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0401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1236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475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0501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3823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640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64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0601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4974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666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71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67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0701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4470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656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3654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635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24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0901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44519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756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23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419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1001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4027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646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22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1101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3921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643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14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1201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2853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606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35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30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1301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5149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669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68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1401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825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399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17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1501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1453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503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43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1601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1079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450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34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65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1701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41407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755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531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1801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5755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678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14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84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49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1901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573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329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10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2001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139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118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3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2101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1700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530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26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38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2201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1379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494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12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32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42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2301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7903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701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20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92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36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  <a:tr h="208907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2401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2692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598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26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34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23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07" marR="7007" marT="7007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052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xmlns="" id="{DAEFAD10-D531-A646-B780-2418143D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001" y="2697268"/>
            <a:ext cx="8517753" cy="1112109"/>
          </a:xfrm>
        </p:spPr>
        <p:txBody>
          <a:bodyPr>
            <a:normAutofit fontScale="90000"/>
          </a:bodyPr>
          <a:lstStyle/>
          <a:p>
            <a:r>
              <a:rPr lang="es-EC" dirty="0" smtClean="0"/>
              <a:t>Selección de la muestra</a:t>
            </a: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5D931A0E-0B75-3D41-84A8-B9340AD00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xmlns="" id="{BFA92F3C-CE9E-1E45-9C49-25DA5E06B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 smtClean="0"/>
              <a:t>05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5229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64" y="901128"/>
            <a:ext cx="7737389" cy="672843"/>
          </a:xfrm>
        </p:spPr>
        <p:txBody>
          <a:bodyPr/>
          <a:lstStyle/>
          <a:p>
            <a:r>
              <a:rPr lang="es-419" dirty="0" smtClean="0"/>
              <a:t>Selección de la muestra</a:t>
            </a:r>
            <a:endParaRPr lang="es-419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9DA794A-A9ED-D74B-9816-ABA56B9403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464" y="1771950"/>
            <a:ext cx="9788611" cy="4042255"/>
          </a:xfrm>
        </p:spPr>
        <p:txBody>
          <a:bodyPr>
            <a:normAutofit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s-ES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 smtClean="0"/>
              <a:t>La selección se realiza en dos etapas:</a:t>
            </a:r>
          </a:p>
          <a:p>
            <a:pPr marL="1028700" lvl="1" indent="-342900" algn="just">
              <a:buFont typeface="Wingdings" panose="05000000000000000000" pitchFamily="2" charset="2"/>
              <a:buChar char="ü"/>
            </a:pPr>
            <a:r>
              <a:rPr lang="es-ES" dirty="0">
                <a:solidFill>
                  <a:srgbClr val="646481"/>
                </a:solidFill>
              </a:rPr>
              <a:t>Unidades educativas</a:t>
            </a:r>
          </a:p>
          <a:p>
            <a:pPr marL="1028700" lvl="1" indent="-342900" algn="just">
              <a:buFont typeface="Wingdings" panose="05000000000000000000" pitchFamily="2" charset="2"/>
              <a:buChar char="ü"/>
            </a:pPr>
            <a:r>
              <a:rPr lang="es-ES" dirty="0">
                <a:solidFill>
                  <a:srgbClr val="646481"/>
                </a:solidFill>
              </a:rPr>
              <a:t>Estudiantes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 smtClean="0"/>
              <a:t>La distribución para la primera etapa se la realiza proporcional a la cantidad de estudiantes, es decir, los grandes colegios tienen una mayor probabilidad de ser seleccionados.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 smtClean="0"/>
              <a:t>La selección de la segunda etapa se la realiza aleatoriamente, es decir, cada estudiante tiene la misma probabilidad de ser seleccionado dentro de su colegio.</a:t>
            </a:r>
          </a:p>
          <a:p>
            <a:pPr lvl="1" indent="0" algn="just">
              <a:buNone/>
            </a:pPr>
            <a:endParaRPr lang="es-ES" dirty="0" smtClean="0">
              <a:solidFill>
                <a:srgbClr val="646481"/>
              </a:solidFill>
            </a:endParaRPr>
          </a:p>
          <a:p>
            <a:pPr lvl="1" indent="0" algn="just">
              <a:buNone/>
            </a:pPr>
            <a:endParaRPr lang="es-ES" dirty="0">
              <a:solidFill>
                <a:srgbClr val="646481"/>
              </a:solidFill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3C5C67A1-29D7-1048-826C-D7445004A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s-419" dirty="0"/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856278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xmlns="" id="{DAEFAD10-D531-A646-B780-2418143D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7001" y="2697268"/>
            <a:ext cx="8517753" cy="1112109"/>
          </a:xfrm>
        </p:spPr>
        <p:txBody>
          <a:bodyPr>
            <a:normAutofit/>
          </a:bodyPr>
          <a:lstStyle/>
          <a:p>
            <a:r>
              <a:rPr lang="es-EC" dirty="0" smtClean="0"/>
              <a:t>Factores de Expansión</a:t>
            </a:r>
            <a:endParaRPr lang="es-EC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5D931A0E-0B75-3D41-84A8-B9340AD00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xmlns="" id="{BFA92F3C-CE9E-1E45-9C49-25DA5E06B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06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124260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436"/>
            <a:ext cx="7737389" cy="672843"/>
          </a:xfrm>
        </p:spPr>
        <p:txBody>
          <a:bodyPr/>
          <a:lstStyle/>
          <a:p>
            <a:r>
              <a:rPr lang="es-EC" dirty="0"/>
              <a:t>Factores de Expansión</a:t>
            </a:r>
            <a:endParaRPr lang="es-419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xmlns:a14="http://schemas.microsoft.com/office/drawing/2010/main" xmlns:mc="http://schemas.openxmlformats.org/markup-compatibility/2006" id="{A9DA794A-A9ED-D74B-9816-ABA56B9403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000" y="940279"/>
            <a:ext cx="10582242" cy="5349353"/>
          </a:xfrm>
        </p:spPr>
        <p:txBody>
          <a:bodyPr>
            <a:normAutofit/>
          </a:bodyPr>
          <a:lstStyle/>
          <a:p>
            <a:pPr algn="just"/>
            <a:r>
              <a:rPr lang="es-ES" sz="2200" dirty="0" smtClean="0"/>
              <a:t>El objetivo de una encuesta por muestreo es hacer inferencias acerca de la población a partir de la información contenida en la muestra. En este sentido se utilizan factores de expansión para llevar la información de la muestra a niveles poblacionales. </a:t>
            </a:r>
          </a:p>
          <a:p>
            <a:pPr algn="just"/>
            <a:r>
              <a:rPr lang="es-ES" sz="2200" dirty="0" smtClean="0"/>
              <a:t>Se define como el inverso de la probabilidad de selección, </a:t>
            </a:r>
            <a:r>
              <a:rPr lang="es-ES" sz="2200" dirty="0"/>
              <a:t>considerando el informe de cobertura que registra las </a:t>
            </a:r>
            <a:r>
              <a:rPr lang="es-ES" sz="2200" dirty="0" smtClean="0"/>
              <a:t>novedades del levantamiento. </a:t>
            </a:r>
          </a:p>
          <a:p>
            <a:r>
              <a:rPr lang="es-ES" sz="2200" dirty="0" smtClean="0"/>
              <a:t>El </a:t>
            </a:r>
            <a:r>
              <a:rPr lang="es-ES" sz="2200" dirty="0"/>
              <a:t>factor de expansión </a:t>
            </a:r>
            <a:r>
              <a:rPr lang="es-ES" sz="2200" dirty="0" smtClean="0"/>
              <a:t>para un muestreo aleatorio simple se define así</a:t>
            </a:r>
            <a:r>
              <a:rPr lang="es-ES" sz="2200" dirty="0"/>
              <a:t>: </a:t>
            </a:r>
            <a:endParaRPr lang="es-MX" sz="2200" dirty="0"/>
          </a:p>
          <a:p>
            <a:endParaRPr lang="es-EC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7000"/>
              </a:lnSpc>
            </a:pPr>
            <a:endParaRPr lang="es-MX" sz="2000" dirty="0" smtClean="0">
              <a:latin typeface="Cambria Math" panose="02040503050406030204" pitchFamily="18" charset="0"/>
              <a:ea typeface="Calibri" panose="020F0502020204030204" pitchFamily="34" charset="0"/>
              <a:cs typeface="Cambria Math" panose="02040503050406030204" pitchFamily="18" charset="0"/>
            </a:endParaRPr>
          </a:p>
          <a:p>
            <a:pPr lvl="0" algn="just">
              <a:lnSpc>
                <a:spcPct val="107000"/>
              </a:lnSpc>
            </a:pPr>
            <a:endParaRPr lang="es-MX" sz="2000" dirty="0" smtClean="0">
              <a:latin typeface="Cambria Math" panose="02040503050406030204" pitchFamily="18" charset="0"/>
              <a:ea typeface="Calibri" panose="020F0502020204030204" pitchFamily="34" charset="0"/>
              <a:cs typeface="Cambria Math" panose="020405030504060302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ES" sz="2000" dirty="0" smtClean="0"/>
              <a:t>Ni: Denota </a:t>
            </a:r>
            <a:r>
              <a:rPr lang="es-ES" sz="2000" dirty="0"/>
              <a:t>el tamaño total de elementos en </a:t>
            </a:r>
            <a:r>
              <a:rPr lang="es-ES" sz="2000" dirty="0" smtClean="0"/>
              <a:t>el dominio i.</a:t>
            </a:r>
          </a:p>
          <a:p>
            <a:pPr marL="342900" lvl="0" indent="-342900" algn="just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ES" sz="2000" dirty="0" smtClean="0"/>
              <a:t>ni: Denota </a:t>
            </a:r>
            <a:r>
              <a:rPr lang="es-ES" sz="2000" dirty="0"/>
              <a:t>el número de elementos a ser </a:t>
            </a:r>
            <a:r>
              <a:rPr lang="es-ES" sz="2000" dirty="0" smtClean="0"/>
              <a:t>seleccionados en el dominio i.</a:t>
            </a:r>
            <a:endParaRPr lang="es-MX" sz="2000" dirty="0" smtClean="0">
              <a:latin typeface="Cambria Math" panose="02040503050406030204" pitchFamily="18" charset="0"/>
              <a:ea typeface="Calibri" panose="020F0502020204030204" pitchFamily="34" charset="0"/>
              <a:cs typeface="Cambria Math" panose="02040503050406030204" pitchFamily="18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3C5C67A1-29D7-1048-826C-D7445004A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s-419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730" y="3483337"/>
            <a:ext cx="1356287" cy="100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08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FD696AD-97AE-0A4B-866A-8E7F94749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Ejemplo:</a:t>
            </a:r>
            <a:endParaRPr lang="es-419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322493"/>
              </p:ext>
            </p:extLst>
          </p:nvPr>
        </p:nvGraphicFramePr>
        <p:xfrm>
          <a:off x="973667" y="1017246"/>
          <a:ext cx="10032999" cy="56014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5789"/>
                <a:gridCol w="5525422"/>
                <a:gridCol w="1395894"/>
                <a:gridCol w="1395894"/>
              </a:tblGrid>
              <a:tr h="268485"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 dirty="0" err="1">
                          <a:effectLst/>
                        </a:rPr>
                        <a:t>cod_canton</a:t>
                      </a:r>
                      <a:endParaRPr lang="es-EC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 dirty="0" err="1">
                          <a:effectLst/>
                        </a:rPr>
                        <a:t>nombre_institucion</a:t>
                      </a:r>
                      <a:endParaRPr lang="es-EC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>
                          <a:effectLst/>
                        </a:rPr>
                        <a:t>pik</a:t>
                      </a:r>
                      <a:endParaRPr lang="es-EC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b="1" u="none" strike="noStrike" dirty="0">
                          <a:effectLst/>
                        </a:rPr>
                        <a:t>pik_2</a:t>
                      </a:r>
                      <a:endParaRPr lang="es-EC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1801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UNIDAD EDUCATIVA  EMANUEL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0,284236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0,647059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1801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UNIDAD EDUCATIVA  PILAHUIN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0,417994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0,44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1801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UNIDAD EDUCATIVA  PIO LOPEZ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0,300955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0,611111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424139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300" u="none" strike="noStrike" dirty="0">
                          <a:effectLst/>
                        </a:rPr>
                        <a:t>UNIDAD EDUCATIVA DEL MILENIO INTERCULTURAL  BILINGÜE PUEBLO KISAPINCHA</a:t>
                      </a:r>
                      <a:endParaRPr lang="es-E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0,250796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0,733333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UNIDAD EDUCATIVA EL ORO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0,66879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0,275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284868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UNIDAD EDUCATIVA ELITE EDUCATIVA CELITE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0,351115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0,52381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UNIDAD EDUCATIVA GENESIS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0,200637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0,916667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UNIDAD EDUCATIVA GLENN DOMAN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0,284236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0,647059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284868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300" u="none" strike="noStrike" dirty="0">
                          <a:effectLst/>
                        </a:rPr>
                        <a:t>UNIDAD EDUCATIVA GRAL ELOY ALFARO DELGADO</a:t>
                      </a:r>
                      <a:endParaRPr lang="es-E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0,969745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0,189655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284868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UNIDAD EDUCATIVA INTERCULTURAL BILINGUE HUAYNA CAPAC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0,601911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0,305556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399562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UNIDAD EDUCATIVA INTERCULTURAL BILINGÜE PROVINCIA DE CHIMBORAZO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0,183917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284868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 dirty="0">
                          <a:effectLst/>
                        </a:rPr>
                        <a:t>UNIDAD EDUCATIVA INTERCULTURAL BILINGÜE TAMBOLOMA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0,284236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0,647059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284868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 dirty="0">
                          <a:effectLst/>
                        </a:rPr>
                        <a:t>UNIDAD EDUCATIVA JOSE JOAQUIN OLMEDO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0,468153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0,392857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26848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300" u="none" strike="noStrike" dirty="0">
                          <a:effectLst/>
                        </a:rPr>
                        <a:t>UNIDAD EDUCATIVA JUAN BENIGNO VELA</a:t>
                      </a:r>
                      <a:endParaRPr lang="es-E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0,601911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0,305556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300" u="none" strike="noStrike">
                          <a:effectLst/>
                        </a:rPr>
                        <a:t>UNIDAD EDUCATIVA JUAN PABLO II</a:t>
                      </a:r>
                      <a:endParaRPr lang="es-E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0,384554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0,478261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284868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UNIDAD EDUCATIVA LEONARDO MURIALDO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0,969745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0,189655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UNIDAD EDUCATIVA NUEVO MUNDO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0,902866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0,203704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UNIDAD EDUCATIVA PICAIHUA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0,869427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0,211538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UNIDAD EDUCATIVA SAN ALFONSO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0,65207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0,282051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284868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UNIDAD EDUCATIVA TARCILA ALBORNOZ DE GROSS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0,217357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0,846154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  <a:tr h="193455"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1801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C" sz="1300" u="none" strike="noStrike">
                          <a:effectLst/>
                        </a:rPr>
                        <a:t>UNIDAD EDUCATIVA UNIKIDS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>
                          <a:effectLst/>
                        </a:rPr>
                        <a:t>0,250796</a:t>
                      </a:r>
                      <a:endParaRPr lang="es-EC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C" sz="1300" u="none" strike="noStrike" dirty="0">
                          <a:effectLst/>
                        </a:rPr>
                        <a:t>0,733333</a:t>
                      </a:r>
                      <a:endParaRPr lang="es-EC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88" marR="5888" marT="5888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919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6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989</Words>
  <Application>Microsoft Office PowerPoint</Application>
  <PresentationFormat>Panorámica</PresentationFormat>
  <Paragraphs>576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Calibri</vt:lpstr>
      <vt:lpstr>Cambria Math</vt:lpstr>
      <vt:lpstr>Century Gothic</vt:lpstr>
      <vt:lpstr>Times New Roman</vt:lpstr>
      <vt:lpstr>Wingdings</vt:lpstr>
      <vt:lpstr>Tema de Office</vt:lpstr>
      <vt:lpstr>EJERCICIO PRÁCTICO TALLER-SNP</vt:lpstr>
      <vt:lpstr>Introducción</vt:lpstr>
      <vt:lpstr>Introducción</vt:lpstr>
      <vt:lpstr>Marco muestral</vt:lpstr>
      <vt:lpstr>Marco muestral</vt:lpstr>
      <vt:lpstr>Dominios de estudio</vt:lpstr>
      <vt:lpstr>Dominios de estudio</vt:lpstr>
      <vt:lpstr>Tamaño muestral</vt:lpstr>
      <vt:lpstr>Tamaño muestral</vt:lpstr>
      <vt:lpstr>Tamaño muestral - Estudiantes</vt:lpstr>
      <vt:lpstr>Tamaño muestral - Colegios</vt:lpstr>
      <vt:lpstr>Tamaño muestral - Colegios</vt:lpstr>
      <vt:lpstr>Tamaño muestral - Resumen</vt:lpstr>
      <vt:lpstr>Selección de la muestra</vt:lpstr>
      <vt:lpstr>Selección de la muestra</vt:lpstr>
      <vt:lpstr>Factores de Expansión</vt:lpstr>
      <vt:lpstr>Factores de Expansión</vt:lpstr>
      <vt:lpstr>Ejemplo: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INEC Omar Llambo</cp:lastModifiedBy>
  <cp:revision>65</cp:revision>
  <dcterms:created xsi:type="dcterms:W3CDTF">2021-10-01T15:30:25Z</dcterms:created>
  <dcterms:modified xsi:type="dcterms:W3CDTF">2024-09-18T13:26:45Z</dcterms:modified>
</cp:coreProperties>
</file>